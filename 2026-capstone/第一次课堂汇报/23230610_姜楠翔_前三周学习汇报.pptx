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前三周学习与作业汇报</a:t>
            </a:r>
          </a:p>
          <a:p>
            <a:r>
              <a:t>建议 15 秒</a:t>
            </a:r>
          </a:p>
          <a:p/>
          <a:p>
            <a:r>
              <a:t>【讲稿】</a:t>
            </a:r>
          </a:p>
          <a:p>
            <a:r>
              <a:t>大家好，我是姜楠翔。前三周我做了模型推理、代码助手和 Agent 实验。这次重点汇报一个小拓展：给生成的代码加上测试，再让模型根据错误自动修改。</a:t>
            </a:r>
          </a:p>
          <a:p/>
          <a:p>
            <a:r>
              <a:t>【资料依据，不用念】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第一周：Qwen 模型推理</a:t>
            </a:r>
          </a:p>
          <a:p>
            <a:r>
              <a:t>建议 40 秒</a:t>
            </a:r>
          </a:p>
          <a:p/>
          <a:p>
            <a:r>
              <a:t>【讲稿】</a:t>
            </a:r>
          </a:p>
          <a:p>
            <a:r>
              <a:t>第一周，我用 Transformers 在 GPU 上跑 Qwen 一点五 B。先预热一次，再正式计时，并等待 GPU 完成计算，避免计时偏差。一次推理用了三点六二二秒，生成七十四个新 token，不把输入算进去。我还观察了最后一层的数据：开始处理四十八个输入位置，之后带着缓存，每次只处理一个新位置。不过，模型对缓存的解释不准确，说明跑通和答对还要分开检查。</a:t>
            </a:r>
          </a:p>
          <a:p/>
          <a:p>
            <a:r>
              <a:t>【资料依据，不用念】</a:t>
            </a:r>
          </a:p>
          <a:p>
            <a:r>
              <a:t>第一周/提交/run.json；qwen_inference.py:58–95、139–147。最后层取样为[0,-1,:4]。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第二周：我想解决什么问题</a:t>
            </a:r>
          </a:p>
          <a:p>
            <a:r>
              <a:t>建议 30 秒</a:t>
            </a:r>
          </a:p>
          <a:p/>
          <a:p>
            <a:r>
              <a:t>【讲稿】</a:t>
            </a:r>
          </a:p>
          <a:p>
            <a:r>
              <a:t>第二周，我跑通了普通回答、流式输出和结构化校验。流式就是边生成边显示，结构化则要求按统一的 JSON 格式回答，方便程序读取。但格式和语法正确，不代表代码结果正确。所以我加上测试用例，让程序实际运行代码，失败后自动反馈，不用每次手动追问。</a:t>
            </a:r>
          </a:p>
          <a:p/>
          <a:p>
            <a:r>
              <a:t>【资料依据，不用念】</a:t>
            </a:r>
          </a:p>
          <a:p>
            <a:r>
              <a:t>第二周/提交/results/plain.json、example.json、example_chat.turn01/02.json；原示例未执行功能测试。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代码改动：校验结果决定是否重试</a:t>
            </a:r>
          </a:p>
          <a:p>
            <a:r>
              <a:t>建议 40 秒</a:t>
            </a:r>
          </a:p>
          <a:p/>
          <a:p>
            <a:r>
              <a:t>【讲稿】</a:t>
            </a:r>
          </a:p>
          <a:p>
            <a:r>
              <a:t>这里主要加了两部分。第一部分是校验：检查 JSON、字段、语法和函数名，再执行测试，比较返回值和类型。测试放在独立进程里，超过五秒就停止，避免卡住。第二部分是修复：把具体错误发给模型，最多重试三次。我比较两种方式：history 保留错误回答继续改；fresh 丢弃错误回答，只给原任务和错误提示，让模型重新写。</a:t>
            </a:r>
          </a:p>
          <a:p/>
          <a:p>
            <a:r>
              <a:t>【资料依据，不用念】</a:t>
            </a:r>
          </a:p>
          <a:p>
            <a:r>
              <a:t>llm_app.py:123–168、325–338。代码省略异常处理和函数名检查；JSON、Schema、语法、函数名、测试共五层校验。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实验：保留错误回答，还是重新生成？</a:t>
            </a:r>
          </a:p>
          <a:p>
            <a:r>
              <a:t>建议 35 秒</a:t>
            </a:r>
          </a:p>
          <a:p/>
          <a:p>
            <a:r>
              <a:t>【讲稿】</a:t>
            </a:r>
          </a:p>
          <a:p>
            <a:r>
              <a:t>实验用了三个任务，模型和生成设置保持一致，只比较两种修复方式。保留错误回答时，正数计数修复三次才通过，另外两项失败。重新生成后，正数计数一次修复通过，第二大不同值两次修复通过，分别通过五个和七个测试。游程编码仍然失败。因此在这组实验里，重新生成修好了更多任务，也减少了重试，但还需要更多任务验证。</a:t>
            </a:r>
          </a:p>
          <a:p/>
          <a:p>
            <a:r>
              <a:t>【资料依据，不用念】</a:t>
            </a:r>
          </a:p>
          <a:p>
            <a:r>
              <a:t>results/ext_v2_*、ext_v3fresh_*；次数为自动修复次数，不含首次生成；上限均为3次。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第三周：Agent 自测与五组实验</a:t>
            </a:r>
          </a:p>
          <a:p>
            <a:r>
              <a:t>建议 35 秒</a:t>
            </a:r>
          </a:p>
          <a:p/>
          <a:p>
            <a:r>
              <a:t>【讲稿】</a:t>
            </a:r>
          </a:p>
          <a:p>
            <a:r>
              <a:t>第三周，我让 Agent 读取测试报告，再用工具计算通过率。报告有四十七项通过、三项失败，答案应是百分之九十四。程序的十四项自测全通过，但换模型大小和生成方式后，五组实验最终都没答对。两组虽然显示 ok，也只是正常结束。另外，第三组到第四组同时改了模型和采样方式，这部分还需要补成严格的单变量对照。</a:t>
            </a:r>
          </a:p>
          <a:p/>
          <a:p>
            <a:r>
              <a:t>【资料依据，不用念】</a:t>
            </a:r>
          </a:p>
          <a:p>
            <a:r>
              <a:t>agent_v0.py --selftest：本次复核14项全PASS；run1–run5。组3→4同时改变模型与采样开关。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看调用链：问题出在哪一步</a:t>
            </a:r>
          </a:p>
          <a:p>
            <a:r>
              <a:t>建议 45 秒</a:t>
            </a:r>
          </a:p>
          <a:p/>
          <a:p>
            <a:r>
              <a:t>【讲稿】</a:t>
            </a:r>
          </a:p>
          <a:p>
            <a:r>
              <a:t>我查看了两条调用链，也就是模型每一步说了什么、调用了什么、工具返回了什么。一点五 B 把路径写错，工具没读到文件，最后却正常结束。三 B 读到了文件，计算器也算出九十四，但它没按要求输出 final JSON，程序不接受，最后用完了步数。我据此补充文件名、收尾规则和调用示例。三 B、七 B 在两版新提示下的四次运行都答对了，但一点五 B 仍会写错计算器参数。</a:t>
            </a:r>
          </a:p>
          <a:p/>
          <a:p>
            <a:r>
              <a:t>【资料依据，不用念】</a:t>
            </a:r>
          </a:p>
          <a:p>
            <a:r>
              <a:t>run1_1.5B_greedy.json、run4_3B_greedy.json；ext_3B/7B_greedy_v2/v3。每条链的逐步详情在讲稿中。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这次拓展的结果与不足</a:t>
            </a:r>
          </a:p>
          <a:p>
            <a:r>
              <a:t>建议 20 秒</a:t>
            </a:r>
          </a:p>
          <a:p/>
          <a:p>
            <a:r>
              <a:t>【讲稿】</a:t>
            </a:r>
          </a:p>
          <a:p>
            <a:r>
              <a:t>这次拓展把代码检查和错误反馈连了起来，重新生成在这几个任务中效果更好。Agent 实验也说明，调用工具不代表一定做对。接下来会补严对照实验，并检查最终答案，而不是只看是否正常结束。谢谢大家。</a:t>
            </a:r>
          </a:p>
          <a:p/>
          <a:p>
            <a:r>
              <a:t>【资料依据，不用念】</a:t>
            </a:r>
          </a:p>
          <a:p>
            <a:r>
              <a:t>结论仅限现有三个代码任务；单变量补跑与最终答案检查为下一步，尚未实施。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77240"/>
            <a:ext cx="7315200" cy="4363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0">
                <a:solidFill>
                  <a:srgbClr val="151515"/>
                </a:solidFill>
                <a:latin typeface="Noto Sans CJK SC"/>
              </a:defRPr>
            </a:pPr>
            <a:r>
              <a:t>前三周学习与作业汇报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19072"/>
            <a:ext cx="7315200" cy="774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200" b="1">
                <a:solidFill>
                  <a:srgbClr val="123A56"/>
                </a:solidFill>
                <a:latin typeface="Noto Sans CJK SC"/>
              </a:defRPr>
            </a:pPr>
            <a:r>
              <a:t>代码生成的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65831"/>
            <a:ext cx="7315200" cy="774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4200" b="1">
                <a:solidFill>
                  <a:srgbClr val="123A56"/>
                </a:solidFill>
                <a:latin typeface="Noto Sans CJK SC"/>
              </a:defRPr>
            </a:pPr>
            <a:r>
              <a:t>自动测试与反馈修复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3675887"/>
            <a:ext cx="7132320" cy="4363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300" b="0">
                <a:solidFill>
                  <a:srgbClr val="151515"/>
                </a:solidFill>
                <a:latin typeface="Noto Sans CJK SC"/>
              </a:defRPr>
            </a:pPr>
            <a:r>
              <a:t>模型推理 · 代码助手 ·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4846320"/>
            <a:ext cx="731520" cy="41148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349240"/>
            <a:ext cx="7132320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23A56"/>
                </a:solidFill>
                <a:latin typeface="Noto Sans CJK SC"/>
              </a:defRPr>
            </a:pPr>
            <a:r>
              <a:t>姜楠翔    23230610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67928" y="1947672"/>
            <a:ext cx="2194560" cy="7132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007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3144" y="2103120"/>
            <a:ext cx="1188719" cy="383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0">
                <a:solidFill>
                  <a:srgbClr val="006B75"/>
                </a:solidFill>
                <a:latin typeface="Noto Sans CJK SC"/>
              </a:defRPr>
            </a:pPr>
            <a:r>
              <a:t>生成代码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3191256"/>
            <a:ext cx="2194560" cy="7132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007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3144" y="3346704"/>
            <a:ext cx="1188719" cy="383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0">
                <a:solidFill>
                  <a:srgbClr val="006B75"/>
                </a:solidFill>
                <a:latin typeface="Noto Sans CJK SC"/>
              </a:defRPr>
            </a:pPr>
            <a:r>
              <a:t>执行测试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67928" y="4434840"/>
            <a:ext cx="2194560" cy="7132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6510">
            <a:solidFill>
              <a:srgbClr val="007B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53144" y="4590288"/>
            <a:ext cx="1188719" cy="383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0">
                <a:solidFill>
                  <a:srgbClr val="006B75"/>
                </a:solidFill>
                <a:latin typeface="Noto Sans CJK SC"/>
              </a:defRPr>
            </a:pPr>
            <a:r>
              <a:t>反馈修复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65208" y="2706624"/>
            <a:ext cx="0" cy="393192"/>
          </a:xfrm>
          <a:prstGeom prst="line">
            <a:avLst/>
          </a:prstGeom>
          <a:ln w="16510">
            <a:solidFill>
              <a:srgbClr val="007B8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65208" y="3950208"/>
            <a:ext cx="0" cy="393192"/>
          </a:xfrm>
          <a:prstGeom prst="line">
            <a:avLst/>
          </a:prstGeom>
          <a:ln w="16510">
            <a:solidFill>
              <a:srgbClr val="007B8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173968" y="2304288"/>
            <a:ext cx="10972" cy="2496312"/>
          </a:xfrm>
          <a:prstGeom prst="rect">
            <a:avLst/>
          </a:prstGeom>
          <a:solidFill>
            <a:srgbClr val="007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08208" y="4782312"/>
            <a:ext cx="365760" cy="10972"/>
          </a:xfrm>
          <a:prstGeom prst="rect">
            <a:avLst/>
          </a:prstGeom>
          <a:solidFill>
            <a:srgbClr val="007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10853928" y="2304288"/>
            <a:ext cx="320040" cy="0"/>
          </a:xfrm>
          <a:prstGeom prst="line">
            <a:avLst/>
          </a:prstGeom>
          <a:ln w="16510">
            <a:solidFill>
              <a:srgbClr val="007B8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21792"/>
            <a:ext cx="10515600" cy="596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23A56"/>
                </a:solidFill>
                <a:latin typeface="Noto Sans CJK SC"/>
              </a:defRPr>
            </a:pPr>
            <a:r>
              <a:t>第一周：Qwen 模型推理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53312"/>
            <a:ext cx="640080" cy="41148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2011679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Qwen2.5-1.5B：单次推理 3.622 秒，生成 74 个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79776"/>
            <a:ext cx="10012680" cy="6400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54679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最后层 hidden state：[1, 48, 1536] → [1, 1, 1536]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22776"/>
            <a:ext cx="10012680" cy="6400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297680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部分数值：0.31055，2.0，0.0，1.58594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21792"/>
            <a:ext cx="10515600" cy="596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23A56"/>
                </a:solidFill>
                <a:latin typeface="Noto Sans CJK SC"/>
              </a:defRPr>
            </a:pPr>
            <a:r>
              <a:t>第二周：我想解决什么问题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53312"/>
            <a:ext cx="640080" cy="41148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2011679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已跑通普通回答、流式输出和结构化校验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79776"/>
            <a:ext cx="10012680" cy="6400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54679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原示例检查了格式和语法，没有执行代码测试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22776"/>
            <a:ext cx="10012680" cy="6400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297680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我的拓展：自动测试 → 反馈具体错误 → 自动重试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21792"/>
            <a:ext cx="10515600" cy="596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23A56"/>
                </a:solidFill>
                <a:latin typeface="Noto Sans CJK SC"/>
              </a:defRPr>
            </a:pPr>
            <a:r>
              <a:t>代码改动：校验结果决定是否重试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53312"/>
            <a:ext cx="640080" cy="41148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28700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JSON → 字段 → 语法 → 函数名 → 测试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267712"/>
            <a:ext cx="10469880" cy="18562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9536" y="2267712"/>
            <a:ext cx="22860" cy="1856231"/>
          </a:xfrm>
          <a:prstGeom prst="rect">
            <a:avLst/>
          </a:prstGeom>
          <a:solidFill>
            <a:srgbClr val="007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10287000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Mono CJK SC"/>
              </a:defRPr>
            </a:pPr>
            <a:r>
              <a:t>result = validate_text(text, task)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14319"/>
            <a:ext cx="10287000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Mono CJK SC"/>
              </a:defRPr>
            </a:pPr>
            <a:r>
              <a:t>feedback = repair_feedback(result, task)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5480"/>
            <a:ext cx="10287000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Mono CJK SC"/>
              </a:defRPr>
            </a:pPr>
            <a:r>
              <a:t>if feedback and repairs &lt; args.repair: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96640"/>
            <a:ext cx="10287000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Mono CJK SC"/>
              </a:defRPr>
            </a:pPr>
            <a:r>
              <a:t>    repairs, source = repairs + 1, "auto_repair"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34840"/>
            <a:ext cx="1024128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history：保留错误回答，再追加反馈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03520"/>
            <a:ext cx="1024128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fresh：丢弃错误回答，用原任务和反馈重新生成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21792"/>
            <a:ext cx="10515600" cy="596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23A56"/>
                </a:solidFill>
                <a:latin typeface="Noto Sans CJK SC"/>
              </a:defRPr>
            </a:pPr>
            <a:r>
              <a:t>实验：保留错误回答，还是重新生成？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53312"/>
            <a:ext cx="640080" cy="41148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673352"/>
            <a:ext cx="104698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2596896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51515"/>
                </a:solidFill>
                <a:latin typeface="Noto Sans CJK SC"/>
              </a:defRPr>
            </a:pPr>
            <a:r>
              <a:t>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9312" y="1828800"/>
            <a:ext cx="3328415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51515"/>
                </a:solidFill>
                <a:latin typeface="Noto Sans CJK SC"/>
              </a:defRPr>
            </a:pPr>
            <a:r>
              <a:t>保留错误回答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031" y="1828800"/>
            <a:ext cx="4014215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51515"/>
                </a:solidFill>
                <a:latin typeface="Noto Sans CJK SC"/>
              </a:defRPr>
            </a:pPr>
            <a:r>
              <a:t>丢弃错误回答后重试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15184"/>
            <a:ext cx="2596896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正数计数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615184"/>
            <a:ext cx="3328415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3 次修复，通过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1" y="2615184"/>
            <a:ext cx="4014215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1 次修复，通过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27248"/>
            <a:ext cx="10469880" cy="7315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2596896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第二大不同值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273552"/>
            <a:ext cx="3328415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3 次修复，失败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1" y="3273552"/>
            <a:ext cx="4014215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2 次修复，通过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785615"/>
            <a:ext cx="10469880" cy="7315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931920"/>
            <a:ext cx="2596896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游程编码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931920"/>
            <a:ext cx="3328415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3 次修复，失败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3931920"/>
            <a:ext cx="4014215" cy="418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0">
                <a:solidFill>
                  <a:srgbClr val="151515"/>
                </a:solidFill>
                <a:latin typeface="Noto Sans CJK SC"/>
              </a:defRPr>
            </a:pPr>
            <a:r>
              <a:t>3 次修复，失败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43983"/>
            <a:ext cx="10469880" cy="7315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57800"/>
            <a:ext cx="1024128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通过的两项任务分别完成 5/5、7/7 个测试用例。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21792"/>
            <a:ext cx="10515600" cy="596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23A56"/>
                </a:solidFill>
                <a:latin typeface="Noto Sans CJK SC"/>
              </a:defRPr>
            </a:pPr>
            <a:r>
              <a:t>第三周：Agent 自测与五组实验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53312"/>
            <a:ext cx="640080" cy="41148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36192"/>
            <a:ext cx="1024128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自测 14 项全部 PASS；固定任务的正确答案为 94%。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21992"/>
            <a:ext cx="104698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77440"/>
            <a:ext cx="539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1">
                <a:solidFill>
                  <a:srgbClr val="151515"/>
                </a:solidFill>
                <a:latin typeface="Noto Sans CJK SC"/>
              </a:defRPr>
            </a:pPr>
            <a:r>
              <a:t>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912" y="2377440"/>
            <a:ext cx="4014215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1">
                <a:solidFill>
                  <a:srgbClr val="151515"/>
                </a:solidFill>
                <a:latin typeface="Noto Sans CJK SC"/>
              </a:defRPr>
            </a:pPr>
            <a:r>
              <a:t>模型和解码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42431" y="2377440"/>
            <a:ext cx="3968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1">
                <a:solidFill>
                  <a:srgbClr val="151515"/>
                </a:solidFill>
                <a:latin typeface="Noto Sans CJK SC"/>
              </a:defRPr>
            </a:pPr>
            <a: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7232" y="2377440"/>
            <a:ext cx="127101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1">
                <a:solidFill>
                  <a:srgbClr val="151515"/>
                </a:solidFill>
                <a:latin typeface="Noto Sans CJK SC"/>
              </a:defRPr>
            </a:pPr>
            <a:r>
              <a:t>最终答对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63824"/>
            <a:ext cx="539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3163824"/>
            <a:ext cx="4014215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1.5B，贪心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1" y="3163824"/>
            <a:ext cx="3968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7232" y="3163824"/>
            <a:ext cx="127101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7"/>
            <a:ext cx="10469880" cy="7315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822191"/>
            <a:ext cx="539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3822191"/>
            <a:ext cx="4014215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1.5B，采样 T=0.7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1" y="3822191"/>
            <a:ext cx="3968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3822191"/>
            <a:ext cx="127101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334255"/>
            <a:ext cx="10469880" cy="7315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480560"/>
            <a:ext cx="539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81912" y="4480560"/>
            <a:ext cx="4014215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1.5B，采样 T=1.2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1" y="4480560"/>
            <a:ext cx="3968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too_many_failures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4480560"/>
            <a:ext cx="127101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992623"/>
            <a:ext cx="10469880" cy="7315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38928"/>
            <a:ext cx="539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5138928"/>
            <a:ext cx="4014215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3B，贪心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1" y="5138928"/>
            <a:ext cx="3968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max_steps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5138928"/>
            <a:ext cx="127101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650992"/>
            <a:ext cx="10469880" cy="7315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797296"/>
            <a:ext cx="539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1912" y="5797296"/>
            <a:ext cx="4014215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7B，贪心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2431" y="5797296"/>
            <a:ext cx="396849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too_many_failures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5797296"/>
            <a:ext cx="1271016" cy="400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100" b="0">
                <a:solidFill>
                  <a:srgbClr val="151515"/>
                </a:solidFill>
                <a:latin typeface="Noto Sans CJK SC"/>
              </a:defRPr>
            </a:pPr>
            <a:r>
              <a:t>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6309359"/>
            <a:ext cx="10469880" cy="7315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21792"/>
            <a:ext cx="10515600" cy="596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23A56"/>
                </a:solidFill>
                <a:latin typeface="Noto Sans CJK SC"/>
              </a:defRPr>
            </a:pPr>
            <a:r>
              <a:t>看调用链：问题出在哪一步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53312"/>
            <a:ext cx="640080" cy="41148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2011679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1.5B：错误路径 → 读取失败 → final 说信息不足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79776"/>
            <a:ext cx="10012680" cy="6400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54679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3B：读文件 → 算出 94 → 回答没有 final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22776"/>
            <a:ext cx="10012680" cy="6400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297680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补充文件名和调用示例后，3B、7B 的 4 次运行均答对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21792"/>
            <a:ext cx="10515600" cy="5963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3200" b="1">
                <a:solidFill>
                  <a:srgbClr val="123A56"/>
                </a:solidFill>
                <a:latin typeface="Noto Sans CJK SC"/>
              </a:defRPr>
            </a:pPr>
            <a:r>
              <a:t>这次拓展的结果与不足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53312"/>
            <a:ext cx="640080" cy="41148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2011679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代码助手增加了测试和自动反馈，减少人工追问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79776"/>
            <a:ext cx="10012680" cy="6400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54679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重新生成在本组任务中效果更好，游程编码仍失败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922776"/>
            <a:ext cx="10012680" cy="6400"/>
          </a:xfrm>
          <a:prstGeom prst="rect">
            <a:avLst/>
          </a:prstGeom>
          <a:solidFill>
            <a:srgbClr val="B3D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4297680"/>
            <a:ext cx="50292" cy="50292"/>
          </a:xfrm>
          <a:prstGeom prst="rect">
            <a:avLst/>
          </a:prstGeom>
          <a:solidFill>
            <a:srgbClr val="00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60520"/>
            <a:ext cx="10104120" cy="4541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400" b="0">
                <a:solidFill>
                  <a:srgbClr val="151515"/>
                </a:solidFill>
                <a:latin typeface="Noto Sans CJK SC"/>
              </a:defRPr>
            </a:pPr>
            <a:r>
              <a:t>下一步补严单变量实验，并检查 Agent 的最终答案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前三周课程学习汇报</dc:title>
  <dc:subject/>
  <dc:creator>姜楠翔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